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09728" cy="109728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237744"/>
            <a:ext cx="4023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F7A7A"/>
                </a:solidFill>
                <a:latin typeface="Tahoma"/>
              </a:rPr>
              <a:t>EXECUTIVE READOUT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0607040" cy="960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43642"/>
                </a:solidFill>
                <a:latin typeface="Tahoma"/>
              </a:rPr>
              <a:t>Negative feedback กระจุกอยู่ที่ปัญหาดู AF ไม่ได้ ไม่ใช่กระแสทั่วไป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737360"/>
            <a:ext cx="996696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0">
                <a:solidFill>
                  <a:srgbClr val="64748B"/>
                </a:solidFill>
                <a:latin typeface="Tahoma"/>
              </a:rPr>
              <a:t>หลังตัดโพสต์โปรโมต/กิจกรรมออก เหลือ feedback ที่เกี่ยวกับดูไม่ได้, ซิม True, แพ็กเกจ และเงื่อนไขรับชมโดยตรง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743200"/>
            <a:ext cx="2011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871216"/>
            <a:ext cx="1737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64748B"/>
                </a:solidFill>
                <a:latin typeface="Tahoma"/>
              </a:rPr>
              <a:t>Relevant negative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3182112"/>
            <a:ext cx="1737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C2412D"/>
                </a:solidFill>
                <a:latin typeface="Tahoma"/>
              </a:rPr>
              <a:t>115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621024"/>
            <a:ext cx="17373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80" b="0">
                <a:solidFill>
                  <a:srgbClr val="64748B"/>
                </a:solidFill>
                <a:latin typeface="Tahoma"/>
              </a:rPr>
              <a:t>3.1% of mentions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834640" y="2743200"/>
            <a:ext cx="2011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71800" y="2871216"/>
            <a:ext cx="1737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64748B"/>
                </a:solidFill>
                <a:latin typeface="Tahoma"/>
              </a:rPr>
              <a:t>Facebook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71800" y="3182112"/>
            <a:ext cx="1737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C2412D"/>
                </a:solidFill>
                <a:latin typeface="Tahoma"/>
              </a:rPr>
              <a:t>102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71800" y="3621024"/>
            <a:ext cx="17373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80" b="0">
                <a:solidFill>
                  <a:srgbClr val="64748B"/>
                </a:solidFill>
                <a:latin typeface="Tahoma"/>
              </a:rPr>
              <a:t>ช่องทางหลักของปัญหา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120640" y="2743200"/>
            <a:ext cx="2011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57800" y="2871216"/>
            <a:ext cx="1737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64748B"/>
                </a:solidFill>
                <a:latin typeface="Tahoma"/>
              </a:rPr>
              <a:t>X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3182112"/>
            <a:ext cx="1737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E1812C"/>
                </a:solidFill>
                <a:latin typeface="Tahoma"/>
              </a:rPr>
              <a:t>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3621024"/>
            <a:ext cx="17373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80" b="0">
                <a:solidFill>
                  <a:srgbClr val="64748B"/>
                </a:solidFill>
                <a:latin typeface="Tahoma"/>
              </a:rPr>
              <a:t>ข้อวิจารณ์คมและแชร์ง่าย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06640" y="2743200"/>
            <a:ext cx="2011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43800" y="2871216"/>
            <a:ext cx="1737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64748B"/>
                </a:solidFill>
                <a:latin typeface="Tahoma"/>
              </a:rPr>
              <a:t>Access issue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43800" y="3182112"/>
            <a:ext cx="1737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F7A7A"/>
                </a:solidFill>
                <a:latin typeface="Tahoma"/>
              </a:rPr>
              <a:t>109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543800" y="3621024"/>
            <a:ext cx="17373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80" b="0">
                <a:solidFill>
                  <a:srgbClr val="64748B"/>
                </a:solidFill>
                <a:latin typeface="Tahoma"/>
              </a:rPr>
              <a:t>ดูไม่ได้ / ช่องทางรับชม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692640" y="2743200"/>
            <a:ext cx="2011680" cy="1325880"/>
          </a:xfrm>
          <a:prstGeom prst="roundRect">
            <a:avLst/>
          </a:prstGeom>
          <a:solidFill>
            <a:srgbClr val="FFFFFF"/>
          </a:solidFill>
          <a:ln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29800" y="2871216"/>
            <a:ext cx="17373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64748B"/>
                </a:solidFill>
                <a:latin typeface="Tahoma"/>
              </a:rPr>
              <a:t>True/package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29800" y="3182112"/>
            <a:ext cx="17373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315D85"/>
                </a:solidFill>
                <a:latin typeface="Tahoma"/>
              </a:rPr>
              <a:t>82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29800" y="3621024"/>
            <a:ext cx="17373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80" b="0">
                <a:solidFill>
                  <a:srgbClr val="64748B"/>
                </a:solidFill>
                <a:latin typeface="Tahoma"/>
              </a:rPr>
              <a:t>ซิม / แพ็กเกจ / ลูกค้า True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461772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43642"/>
                </a:solidFill>
                <a:latin typeface="Tahoma"/>
              </a:rPr>
              <a:t>สัญญาณหลัก: คนไม่ได้โต้แย้งตัวรายการ แต่โต้แย้ง friction ของการรับชมคอนเสิร์ตและเงื่อนไขที่ทำให้คนที่อยากดูเข้าไม่ถึง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492240"/>
            <a:ext cx="6583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Tahoma"/>
              </a:rPr>
              <a:t>Negative Feedback: ไม่มีซิม True ดู AF ไม่ได้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Tahoma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09728" cy="109728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237744"/>
            <a:ext cx="4023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F7A7A"/>
                </a:solidFill>
                <a:latin typeface="Tahoma"/>
              </a:rPr>
              <a:t>CHANNEL PRESSURE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69848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3642"/>
                </a:solidFill>
                <a:latin typeface="Tahoma"/>
              </a:rPr>
              <a:t>Facebook เป็นศูนย์กลาง negative feedback จากปัญหาดูไม่ได้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61872"/>
            <a:ext cx="10424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Tahoma"/>
              </a:rPr>
              <a:t>ตัวเลขนี้นับเฉพาะ negative ที่เกี่ยวข้องกับการรับชม/ซิม/แพ็กเกจ ไม่รวมโพสต์โปรโมตทั่วไป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947672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43642"/>
                </a:solidFill>
                <a:latin typeface="Tahoma"/>
              </a:rPr>
              <a:t>Facebook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1965960"/>
            <a:ext cx="5943600" cy="146304"/>
          </a:xfrm>
          <a:prstGeom prst="rect">
            <a:avLst/>
          </a:prstGeom>
          <a:solidFill>
            <a:srgbClr val="EB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651760" y="1965960"/>
            <a:ext cx="5943600" cy="146304"/>
          </a:xfrm>
          <a:prstGeom prst="rect">
            <a:avLst/>
          </a:prstGeom>
          <a:solidFill>
            <a:srgbClr val="C24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0" y="1911095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143642"/>
                </a:solidFill>
                <a:latin typeface="Tahoma"/>
              </a:rPr>
              <a:t>102 (5%)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386584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43642"/>
                </a:solidFill>
                <a:latin typeface="Tahoma"/>
              </a:rPr>
              <a:t>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651760" y="2404872"/>
            <a:ext cx="5943600" cy="146304"/>
          </a:xfrm>
          <a:prstGeom prst="rect">
            <a:avLst/>
          </a:prstGeom>
          <a:solidFill>
            <a:srgbClr val="EB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651760" y="2404872"/>
            <a:ext cx="466164" cy="146304"/>
          </a:xfrm>
          <a:prstGeom prst="rect">
            <a:avLst/>
          </a:prstGeom>
          <a:solidFill>
            <a:srgbClr val="C24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86800" y="2350008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143642"/>
                </a:solidFill>
                <a:latin typeface="Tahoma"/>
              </a:rPr>
              <a:t>8 (1%)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2825496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43642"/>
                </a:solidFill>
                <a:latin typeface="Tahoma"/>
              </a:rPr>
              <a:t>IG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651760" y="2843784"/>
            <a:ext cx="5943600" cy="146304"/>
          </a:xfrm>
          <a:prstGeom prst="rect">
            <a:avLst/>
          </a:prstGeom>
          <a:solidFill>
            <a:srgbClr val="EB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651760" y="2843784"/>
            <a:ext cx="174811" cy="146304"/>
          </a:xfrm>
          <a:prstGeom prst="rect">
            <a:avLst/>
          </a:prstGeom>
          <a:solidFill>
            <a:srgbClr val="C24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86800" y="2788920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143642"/>
                </a:solidFill>
                <a:latin typeface="Tahoma"/>
              </a:rPr>
              <a:t>3 (1%)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3264408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43642"/>
                </a:solidFill>
                <a:latin typeface="Tahoma"/>
              </a:rPr>
              <a:t>TikTok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651760" y="3282696"/>
            <a:ext cx="5943600" cy="146304"/>
          </a:xfrm>
          <a:prstGeom prst="rect">
            <a:avLst/>
          </a:prstGeom>
          <a:solidFill>
            <a:srgbClr val="EB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651760" y="3282696"/>
            <a:ext cx="116541" cy="146304"/>
          </a:xfrm>
          <a:prstGeom prst="rect">
            <a:avLst/>
          </a:prstGeom>
          <a:solidFill>
            <a:srgbClr val="C24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686800" y="3227832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143642"/>
                </a:solidFill>
                <a:latin typeface="Tahoma"/>
              </a:rPr>
              <a:t>2 (0%)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3703320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43642"/>
                </a:solidFill>
                <a:latin typeface="Tahoma"/>
              </a:rPr>
              <a:t>YouTube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651760" y="3721608"/>
            <a:ext cx="5943600" cy="146304"/>
          </a:xfrm>
          <a:prstGeom prst="rect">
            <a:avLst/>
          </a:prstGeom>
          <a:solidFill>
            <a:srgbClr val="EB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2651760" y="3721608"/>
            <a:ext cx="0" cy="146304"/>
          </a:xfrm>
          <a:prstGeom prst="rect">
            <a:avLst/>
          </a:prstGeom>
          <a:solidFill>
            <a:srgbClr val="C24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686800" y="3666744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143642"/>
                </a:solidFill>
                <a:latin typeface="Tahoma"/>
              </a:rPr>
              <a:t>0 (0%)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85800" y="4142232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43642"/>
                </a:solidFill>
                <a:latin typeface="Tahoma"/>
              </a:rPr>
              <a:t>Pantip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651760" y="4160520"/>
            <a:ext cx="5943600" cy="146304"/>
          </a:xfrm>
          <a:prstGeom prst="rect">
            <a:avLst/>
          </a:prstGeom>
          <a:solidFill>
            <a:srgbClr val="EB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2651760" y="4160520"/>
            <a:ext cx="0" cy="146304"/>
          </a:xfrm>
          <a:prstGeom prst="rect">
            <a:avLst/>
          </a:prstGeom>
          <a:solidFill>
            <a:srgbClr val="C24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0" y="4105656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143642"/>
                </a:solidFill>
                <a:latin typeface="Tahoma"/>
              </a:rPr>
              <a:t>0 (0%)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581144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43642"/>
                </a:solidFill>
                <a:latin typeface="Tahoma"/>
              </a:rPr>
              <a:t>Other / Website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651760" y="4599432"/>
            <a:ext cx="5943600" cy="146304"/>
          </a:xfrm>
          <a:prstGeom prst="rect">
            <a:avLst/>
          </a:prstGeom>
          <a:solidFill>
            <a:srgbClr val="EB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2651760" y="4599432"/>
            <a:ext cx="0" cy="146304"/>
          </a:xfrm>
          <a:prstGeom prst="rect">
            <a:avLst/>
          </a:prstGeom>
          <a:solidFill>
            <a:srgbClr val="C24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686800" y="4544568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143642"/>
                </a:solidFill>
                <a:latin typeface="Tahoma"/>
              </a:rPr>
              <a:t>0 (0%)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869680" y="1828800"/>
            <a:ext cx="2011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7A7A"/>
                </a:solidFill>
                <a:latin typeface="Tahoma"/>
              </a:rPr>
              <a:t>Readout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18120" y="2212848"/>
            <a:ext cx="32461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43642"/>
                </a:solidFill>
                <a:latin typeface="Tahoma"/>
              </a:rPr>
              <a:t>Facebook คิดเป็น 102 mentions จาก relevant negative ทั้งหมด 115 mentions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818120" y="3310128"/>
            <a:ext cx="3246120" cy="1143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64748B"/>
                </a:solidFill>
                <a:latin typeface="Tahoma"/>
              </a:rPr>
              <a:t>X มี volume น้อยกว่า แต่ข้อความมักเป็นคำวิจารณ์ตรง เช่น สมัครแล้วดูไม่ได้, ต้องใช้ True/dtac, เงื่อนไขไม่ชัด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6492240"/>
            <a:ext cx="6583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Tahoma"/>
              </a:rPr>
              <a:t>Negative Feedback: ไม่มีซิม True ดู AF ไม่ได้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Tahoma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09728" cy="109728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237744"/>
            <a:ext cx="4023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F7A7A"/>
                </a:solidFill>
                <a:latin typeface="Tahoma"/>
              </a:rPr>
              <a:t>ISSUE ANATOMY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69848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3642"/>
                </a:solidFill>
                <a:latin typeface="Tahoma"/>
              </a:rPr>
              <a:t>Pain point หลักคือ access friction มากกว่า sentiment ต่อตัวรายการ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956816"/>
            <a:ext cx="21945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64748B"/>
                </a:solidFill>
                <a:latin typeface="Tahoma"/>
              </a:rPr>
              <a:t>ช่องทางรับชม / ดูไม่ได้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267712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C2412D"/>
                </a:solidFill>
                <a:latin typeface="Tahoma"/>
              </a:rPr>
              <a:t>109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06624"/>
            <a:ext cx="21945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80" b="0">
                <a:solidFill>
                  <a:srgbClr val="64748B"/>
                </a:solidFill>
                <a:latin typeface="Tahoma"/>
              </a:rPr>
              <a:t>core pain point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82880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66160" y="1956816"/>
            <a:ext cx="21945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64748B"/>
                </a:solidFill>
                <a:latin typeface="Tahoma"/>
              </a:rPr>
              <a:t>ซิม True / แพ็กเกจ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2267712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E1812C"/>
                </a:solidFill>
                <a:latin typeface="Tahoma"/>
              </a:rPr>
              <a:t>82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6160" y="2706624"/>
            <a:ext cx="21945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80" b="0">
                <a:solidFill>
                  <a:srgbClr val="64748B"/>
                </a:solidFill>
                <a:latin typeface="Tahoma"/>
              </a:rPr>
              <a:t>condition friction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82880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55080" y="1956816"/>
            <a:ext cx="21945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64748B"/>
                </a:solidFill>
                <a:latin typeface="Tahoma"/>
              </a:rPr>
              <a:t>ดูไม่ได้ / ต้องสมัคร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2267712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1F7A7A"/>
                </a:solidFill>
                <a:latin typeface="Tahoma"/>
              </a:rPr>
              <a:t>72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2706624"/>
            <a:ext cx="21945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80" b="0">
                <a:solidFill>
                  <a:srgbClr val="64748B"/>
                </a:solidFill>
                <a:latin typeface="Tahoma"/>
              </a:rPr>
              <a:t>explicit access failure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1828800"/>
            <a:ext cx="246888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0" y="1956816"/>
            <a:ext cx="219456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50" b="1">
                <a:solidFill>
                  <a:srgbClr val="64748B"/>
                </a:solidFill>
                <a:latin typeface="Tahoma"/>
              </a:rPr>
              <a:t>ถ้อยคำต่อว่า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0" y="2267712"/>
            <a:ext cx="21945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300" b="1">
                <a:solidFill>
                  <a:srgbClr val="315D85"/>
                </a:solidFill>
                <a:latin typeface="Tahoma"/>
              </a:rPr>
              <a:t>62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2706624"/>
            <a:ext cx="219456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80" b="0">
                <a:solidFill>
                  <a:srgbClr val="64748B"/>
                </a:solidFill>
                <a:latin typeface="Tahoma"/>
              </a:rPr>
              <a:t>strong wording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3886200"/>
            <a:ext cx="512064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143642"/>
                </a:solidFill>
                <a:latin typeface="Tahoma"/>
              </a:rPr>
              <a:t>ตีความ: คนมี intent จะดูและติดตามอยู่แล้ว แต่เจอ friction ระหว่างจุดที่ควร convert เป็น engagement/โหวต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886200"/>
            <a:ext cx="43434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Tahoma"/>
              </a:rPr>
              <a:t>Implication: ช่องทางรับชมควรสื่อสารแบบ zero ambiguity ก่อนคอนเสิร์ต และแยก free access / paid package / telco condition ให้ชัด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6583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Tahoma"/>
              </a:rPr>
              <a:t>Negative Feedback: ไม่มีซิม True ดู AF ไม่ได้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Tahoma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09728" cy="109728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237744"/>
            <a:ext cx="4023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F7A7A"/>
                </a:solidFill>
                <a:latin typeface="Tahoma"/>
              </a:rPr>
              <a:t>LANGUAGE SIGNAL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69848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3642"/>
                </a:solidFill>
                <a:latin typeface="Tahoma"/>
              </a:rPr>
              <a:t>คำลบวนอยู่กับ ‘ดูไม่ได้’ และ ‘เงื่อนไขที่ทำให้เข้าไม่ถึง’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810512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43642"/>
                </a:solidFill>
                <a:latin typeface="Tahoma"/>
              </a:rPr>
              <a:t>ดูไม่ได้</a:t>
            </a:r>
          </a:p>
        </p:txBody>
      </p:sp>
      <p:sp>
        <p:nvSpPr>
          <p:cNvPr id="6" name="Rectangle 5"/>
          <p:cNvSpPr/>
          <p:nvPr/>
        </p:nvSpPr>
        <p:spPr>
          <a:xfrm>
            <a:off x="2697480" y="1828800"/>
            <a:ext cx="6858000" cy="146304"/>
          </a:xfrm>
          <a:prstGeom prst="rect">
            <a:avLst/>
          </a:prstGeom>
          <a:solidFill>
            <a:srgbClr val="EB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697480" y="1828800"/>
            <a:ext cx="6858000" cy="146304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46920" y="1773936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143642"/>
                </a:solidFill>
                <a:latin typeface="Tahoma"/>
              </a:rPr>
              <a:t>57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267712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43642"/>
                </a:solidFill>
                <a:latin typeface="Tahoma"/>
              </a:rPr>
              <a:t>ดูยาก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97480" y="2286000"/>
            <a:ext cx="6858000" cy="146304"/>
          </a:xfrm>
          <a:prstGeom prst="rect">
            <a:avLst/>
          </a:prstGeom>
          <a:solidFill>
            <a:srgbClr val="EB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697480" y="2286000"/>
            <a:ext cx="2767263" cy="146304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46920" y="2231136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143642"/>
                </a:solidFill>
                <a:latin typeface="Tahoma"/>
              </a:rPr>
              <a:t>23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2724912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43642"/>
                </a:solidFill>
                <a:latin typeface="Tahoma"/>
              </a:rPr>
              <a:t>ไม่ดู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697480" y="2743200"/>
            <a:ext cx="6858000" cy="146304"/>
          </a:xfrm>
          <a:prstGeom prst="rect">
            <a:avLst/>
          </a:prstGeom>
          <a:solidFill>
            <a:srgbClr val="EB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2697480" y="2743200"/>
            <a:ext cx="1684421" cy="146304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46920" y="2688336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143642"/>
                </a:solidFill>
                <a:latin typeface="Tahoma"/>
              </a:rPr>
              <a:t>14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182112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43642"/>
                </a:solidFill>
                <a:latin typeface="Tahoma"/>
              </a:rPr>
              <a:t>ไม่ได้ดู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697480" y="3200400"/>
            <a:ext cx="6858000" cy="146304"/>
          </a:xfrm>
          <a:prstGeom prst="rect">
            <a:avLst/>
          </a:prstGeom>
          <a:solidFill>
            <a:srgbClr val="EB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697480" y="3200400"/>
            <a:ext cx="1564105" cy="146304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646920" y="3145536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143642"/>
                </a:solidFill>
                <a:latin typeface="Tahoma"/>
              </a:rPr>
              <a:t>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3639312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43642"/>
                </a:solidFill>
                <a:latin typeface="Tahoma"/>
              </a:rPr>
              <a:t>เสียดาย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97480" y="3657600"/>
            <a:ext cx="6858000" cy="146304"/>
          </a:xfrm>
          <a:prstGeom prst="rect">
            <a:avLst/>
          </a:prstGeom>
          <a:solidFill>
            <a:srgbClr val="EB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2697480" y="3657600"/>
            <a:ext cx="962526" cy="146304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46920" y="3602736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143642"/>
                </a:solidFill>
                <a:latin typeface="Tahoma"/>
              </a:rPr>
              <a:t>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096512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43642"/>
                </a:solidFill>
                <a:latin typeface="Tahoma"/>
              </a:rPr>
              <a:t>ผิด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697480" y="4114800"/>
            <a:ext cx="6858000" cy="146304"/>
          </a:xfrm>
          <a:prstGeom prst="rect">
            <a:avLst/>
          </a:prstGeom>
          <a:solidFill>
            <a:srgbClr val="EB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2697480" y="4114800"/>
            <a:ext cx="842210" cy="146304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46920" y="4059936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143642"/>
                </a:solidFill>
                <a:latin typeface="Tahoma"/>
              </a:rPr>
              <a:t>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4553712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43642"/>
                </a:solidFill>
                <a:latin typeface="Tahoma"/>
              </a:rPr>
              <a:t>ต้องใช้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697480" y="4572000"/>
            <a:ext cx="6858000" cy="146304"/>
          </a:xfrm>
          <a:prstGeom prst="rect">
            <a:avLst/>
          </a:prstGeom>
          <a:solidFill>
            <a:srgbClr val="EB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2697480" y="4572000"/>
            <a:ext cx="842210" cy="146304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646920" y="4517136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143642"/>
                </a:solidFill>
                <a:latin typeface="Tahoma"/>
              </a:rPr>
              <a:t>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010912"/>
            <a:ext cx="18288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1">
                <a:solidFill>
                  <a:srgbClr val="143642"/>
                </a:solidFill>
                <a:latin typeface="Tahoma"/>
              </a:rPr>
              <a:t>แย่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97480" y="5029200"/>
            <a:ext cx="6858000" cy="146304"/>
          </a:xfrm>
          <a:prstGeom prst="rect">
            <a:avLst/>
          </a:prstGeom>
          <a:solidFill>
            <a:srgbClr val="EBF0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2697480" y="5029200"/>
            <a:ext cx="721894" cy="146304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646920" y="4974336"/>
            <a:ext cx="1097280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50" b="1">
                <a:solidFill>
                  <a:srgbClr val="143642"/>
                </a:solidFill>
                <a:latin typeface="Tahoma"/>
              </a:rPr>
              <a:t>6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41080" y="182880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1F7A7A"/>
                </a:solidFill>
                <a:latin typeface="Tahoma"/>
              </a:rPr>
              <a:t>What it means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46720" y="2240280"/>
            <a:ext cx="3154680" cy="1600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3642"/>
                </a:solidFill>
                <a:latin typeface="Tahoma"/>
              </a:rPr>
              <a:t>Keyword ไม่ได้บอกว่าแฟนไม่ชอบรายการ แต่บอกว่าเขาสะดุดกับวิธีดู: ดูไม่ได้, ดูยาก, ต้องใช้, ไม่ดู, เสียความรู้สึก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46720" y="4160520"/>
            <a:ext cx="315468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64748B"/>
                </a:solidFill>
                <a:latin typeface="Tahoma"/>
              </a:rPr>
              <a:t>นี่เป็น operational issue ที่แก้ได้ด้วย product access + communication มากกว่าการแก้ content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6492240"/>
            <a:ext cx="6583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Tahoma"/>
              </a:rPr>
              <a:t>Negative Feedback: ไม่มีซิม True ดู AF ไม่ได้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Tahoma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09728" cy="109728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237744"/>
            <a:ext cx="4023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F7A7A"/>
                </a:solidFill>
                <a:latin typeface="Tahoma"/>
              </a:rPr>
              <a:t>AMPLIFICATION ACCOUNTS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69848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3642"/>
                </a:solidFill>
                <a:latin typeface="Tahoma"/>
              </a:rPr>
              <a:t>กระแสลบถูกขยายโดย account/เพจที่มี engagement หรือถ้อยคำแรง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1261872"/>
            <a:ext cx="1042416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0">
                <a:solidFill>
                  <a:srgbClr val="64748B"/>
                </a:solidFill>
                <a:latin typeface="Tahoma"/>
              </a:rPr>
              <a:t>ตารางนี้ตัด owned brand account และ UNKNOWN ออก เพื่อดู account ที่พากระแสชัดขึ้น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94360" y="1755648"/>
          <a:ext cx="960120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5029200"/>
                <a:gridCol w="914400"/>
                <a:gridCol w="1280160"/>
                <a:gridCol w="1097280"/>
              </a:tblGrid>
              <a:tr h="424542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Tahoma"/>
                        </a:rPr>
                        <a:t>Platform</a:t>
                      </a:r>
                    </a:p>
                  </a:txBody>
                  <a:tcPr>
                    <a:solidFill>
                      <a:srgbClr val="1436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Tahoma"/>
                        </a:rPr>
                        <a:t>Account</a:t>
                      </a:r>
                    </a:p>
                  </a:txBody>
                  <a:tcPr>
                    <a:solidFill>
                      <a:srgbClr val="1436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Tahoma"/>
                        </a:rPr>
                        <a:t>Neg.</a:t>
                      </a:r>
                    </a:p>
                  </a:txBody>
                  <a:tcPr>
                    <a:solidFill>
                      <a:srgbClr val="1436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Tahoma"/>
                        </a:rPr>
                        <a:t>Eng.</a:t>
                      </a:r>
                    </a:p>
                  </a:txBody>
                  <a:tcPr>
                    <a:solidFill>
                      <a:srgbClr val="14364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Tahoma"/>
                        </a:rPr>
                        <a:t>Impact</a:t>
                      </a:r>
                    </a:p>
                  </a:txBody>
                  <a:tcPr>
                    <a:solidFill>
                      <a:srgbClr val="143642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43642"/>
                          </a:solidFill>
                          <a:latin typeface="Tahoma"/>
                        </a:rPr>
                        <a:t>Facebook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43642"/>
                          </a:solidFill>
                          <a:latin typeface="Tahoma"/>
                        </a:rPr>
                        <a:t>อวยไส้แตกแหกไส้ฉีก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43642"/>
                          </a:solidFill>
                          <a:latin typeface="Tahoma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43642"/>
                          </a:solidFill>
                          <a:latin typeface="Tahoma"/>
                        </a:rPr>
                        <a:t>609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43642"/>
                          </a:solidFill>
                          <a:latin typeface="Tahoma"/>
                        </a:rPr>
                        <a:t>122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43642"/>
                          </a:solidFill>
                          <a:latin typeface="Tahoma"/>
                        </a:rPr>
                        <a:t>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43642"/>
                          </a:solidFill>
                          <a:latin typeface="Tahoma"/>
                        </a:rPr>
                        <a:t>mmmmintmint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43642"/>
                          </a:solidFill>
                          <a:latin typeface="Tahoma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43642"/>
                          </a:solidFill>
                          <a:latin typeface="Tahoma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43642"/>
                          </a:solidFill>
                          <a:latin typeface="Tahoma"/>
                        </a:rPr>
                        <a:t>96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43642"/>
                          </a:solidFill>
                          <a:latin typeface="Tahoma"/>
                        </a:rPr>
                        <a:t>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43642"/>
                          </a:solidFill>
                          <a:latin typeface="Tahoma"/>
                        </a:rPr>
                        <a:t>fightwithall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43642"/>
                          </a:solidFill>
                          <a:latin typeface="Tahoma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43642"/>
                          </a:solidFill>
                          <a:latin typeface="Tahoma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43642"/>
                          </a:solidFill>
                          <a:latin typeface="Tahoma"/>
                        </a:rPr>
                        <a:t>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43642"/>
                          </a:solidFill>
                          <a:latin typeface="Tahoma"/>
                        </a:rPr>
                        <a:t>TikTok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43642"/>
                          </a:solidFill>
                          <a:latin typeface="Tahoma"/>
                        </a:rPr>
                        <a:t>cake.cheese_a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43642"/>
                          </a:solidFill>
                          <a:latin typeface="Tahoma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43642"/>
                          </a:solidFill>
                          <a:latin typeface="Tahoma"/>
                        </a:rPr>
                        <a:t>63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43642"/>
                          </a:solidFill>
                          <a:latin typeface="Tahoma"/>
                        </a:rPr>
                        <a:t>67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4542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43642"/>
                          </a:solidFill>
                          <a:latin typeface="Tahoma"/>
                        </a:rPr>
                        <a:t>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43642"/>
                          </a:solidFill>
                          <a:latin typeface="Tahoma"/>
                        </a:rPr>
                        <a:t>jiejieshine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43642"/>
                          </a:solidFill>
                          <a:latin typeface="Tahoma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43642"/>
                          </a:solidFill>
                          <a:latin typeface="Tahoma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43642"/>
                          </a:solidFill>
                          <a:latin typeface="Tahoma"/>
                        </a:rPr>
                        <a:t>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24548"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43642"/>
                          </a:solidFill>
                          <a:latin typeface="Tahoma"/>
                        </a:rPr>
                        <a:t>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43642"/>
                          </a:solidFill>
                          <a:latin typeface="Tahoma"/>
                        </a:rPr>
                        <a:t>wkmrwp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43642"/>
                          </a:solidFill>
                          <a:latin typeface="Tahoma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43642"/>
                          </a:solidFill>
                          <a:latin typeface="Tahoma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00">
                          <a:solidFill>
                            <a:srgbClr val="143642"/>
                          </a:solidFill>
                          <a:latin typeface="Tahoma"/>
                        </a:rPr>
                        <a:t>65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85800" y="5074920"/>
            <a:ext cx="106984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1">
                <a:solidFill>
                  <a:srgbClr val="143642"/>
                </a:solidFill>
                <a:latin typeface="Tahoma"/>
              </a:rPr>
              <a:t>Key read: เพจ ‘อวยไส้แตกแหกไส้ฉีก’ เป็นตัวอย่าง account ที่ทำให้ประเด็นดูไม่ได้ถูกเล่าเป็น narrative ยาวและแชร์ต่อได้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492240"/>
            <a:ext cx="6583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Tahoma"/>
              </a:rPr>
              <a:t>Negative Feedback: ไม่มีซิม True ดู AF ไม่ได้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Tahoma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09728" cy="109728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237744"/>
            <a:ext cx="4023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F7A7A"/>
                </a:solidFill>
                <a:latin typeface="Tahoma"/>
              </a:rPr>
              <a:t>VOICE OF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69848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3642"/>
                </a:solidFill>
                <a:latin typeface="Tahoma"/>
              </a:rPr>
              <a:t>ตัวอย่าง feedback สะท้อนความเสียหายที่เกิดตอนคนพร้อมจะดู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737360"/>
            <a:ext cx="5166360" cy="1508760"/>
          </a:xfrm>
          <a:prstGeom prst="roundRect">
            <a:avLst/>
          </a:prstGeom>
          <a:solidFill>
            <a:srgbClr val="F6F8FA"/>
          </a:solidFill>
          <a:ln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1856231"/>
            <a:ext cx="47548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C2412D"/>
                </a:solidFill>
                <a:latin typeface="Tahoma"/>
              </a:rPr>
              <a:t>Facebook · อวยไส้แตกแหกไส้ฉีก · score 100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148840"/>
            <a:ext cx="4800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30" b="0">
                <a:solidFill>
                  <a:srgbClr val="143642"/>
                </a:solidFill>
                <a:latin typeface="Tahoma"/>
              </a:rPr>
              <a:t>รีวิวคอนเสิร์ตวีคแรก Academy Fantasia 2026 แบบจัดเต็ม (ฝากแชร์ให้ถึงทรูหน่อย) ปีนี้โชคดีมากที่ได้ไปชม AF ที่สถานที่จริง ของจริง เวทีจริง บอกเลยว่าจัดดีมาก โปรดักชันดี เวทีสวย กราฟิก LED ทำอ…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737360"/>
            <a:ext cx="5166360" cy="1508760"/>
          </a:xfrm>
          <a:prstGeom prst="roundRect">
            <a:avLst/>
          </a:prstGeom>
          <a:solidFill>
            <a:srgbClr val="F6F8FA"/>
          </a:solidFill>
          <a:ln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36792" y="1856231"/>
            <a:ext cx="47548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C2412D"/>
                </a:solidFill>
                <a:latin typeface="Tahoma"/>
              </a:rPr>
              <a:t>Facebook · Tidarat Sommat · score 100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36792" y="2148840"/>
            <a:ext cx="4800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30" b="0">
                <a:solidFill>
                  <a:srgbClr val="143642"/>
                </a:solidFill>
                <a:latin typeface="Tahoma"/>
              </a:rPr>
              <a:t>จริงค่ะ ในฐานะที่เป็นแฟนคลับafมานาน คือแอบเซ็ง แทนที่จะดันรายการให้ดังๆ แต่นี่ทำเหมือนกลัวรายการจะดัง คนดูเข้าถึงยากมาก แล้วที่งงคือคอมเมนไม่มี คือมันต้องมีสิ วันนี้ตั้งใจจะดูมาก สมัครแล้วก…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94360" y="3977639"/>
            <a:ext cx="5166360" cy="1508760"/>
          </a:xfrm>
          <a:prstGeom prst="roundRect">
            <a:avLst/>
          </a:prstGeom>
          <a:solidFill>
            <a:srgbClr val="F6F8FA"/>
          </a:solidFill>
          <a:ln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8952" y="4096511"/>
            <a:ext cx="47548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C2412D"/>
                </a:solidFill>
                <a:latin typeface="Tahoma"/>
              </a:rPr>
              <a:t>Facebook · UNKNOWN · score 100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8952" y="4389120"/>
            <a:ext cx="4800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30" b="0">
                <a:solidFill>
                  <a:srgbClr val="143642"/>
                </a:solidFill>
                <a:latin typeface="Tahoma"/>
              </a:rPr>
              <a:t>ฉายช่อง 24 ฟรีทีวีด้วยก็ได้ค่าโหวตเพิ่ม คนทั่วๆปจะได้ดูด้วย ขนาดสมัครแพคเกจ 199ยังหาช่องดูยาก เปิดช่อง xzyte หน้าจอดูไม่ได้ตัองเปิดหน้าแรกแล้วหาไลฟ์สดถึงได้ดู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72200" y="3977639"/>
            <a:ext cx="5166360" cy="1508760"/>
          </a:xfrm>
          <a:prstGeom prst="roundRect">
            <a:avLst/>
          </a:prstGeom>
          <a:solidFill>
            <a:srgbClr val="F6F8FA"/>
          </a:solidFill>
          <a:ln>
            <a:solidFill>
              <a:srgbClr val="D8E0E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36792" y="4096511"/>
            <a:ext cx="4754880" cy="21945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C2412D"/>
                </a:solidFill>
                <a:latin typeface="Tahoma"/>
              </a:rPr>
              <a:t>Facebook · Darin Kaewdee · score 100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36792" y="4389120"/>
            <a:ext cx="4800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30" b="0">
                <a:solidFill>
                  <a:srgbClr val="143642"/>
                </a:solidFill>
                <a:latin typeface="Tahoma"/>
              </a:rPr>
              <a:t>ไม่ได้ดูค่ะ ปีนี้หาดูยากมากเพราะเราไม่ได้ซื้อแพ็คเกจ เลยเลือกที่จะไม่ดู หาช่องทางไหนก็ดูไม่ได้เลย ต้องเสียตังเท่านั้นถึงจะได้ดู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92240"/>
            <a:ext cx="6583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Tahoma"/>
              </a:rPr>
              <a:t>Negative Feedback: ไม่มีซิม True ดู AF ไม่ได้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Tahoma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320040"/>
            <a:ext cx="109728" cy="109728"/>
          </a:xfrm>
          <a:prstGeom prst="rect">
            <a:avLst/>
          </a:prstGeom>
          <a:solidFill>
            <a:srgbClr val="1F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94944" y="237744"/>
            <a:ext cx="402336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850" b="1">
                <a:solidFill>
                  <a:srgbClr val="1F7A7A"/>
                </a:solidFill>
                <a:latin typeface="Tahoma"/>
              </a:rPr>
              <a:t>ACTION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03504"/>
            <a:ext cx="10698480" cy="7132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000" b="1">
                <a:solidFill>
                  <a:srgbClr val="143642"/>
                </a:solidFill>
                <a:latin typeface="Tahoma"/>
              </a:rPr>
              <a:t>ลด negative ได้ด้วยการลด ambiguity ก่อนถึงจุดรับชม</a:t>
            </a:r>
          </a:p>
        </p:txBody>
      </p:sp>
      <p:sp>
        <p:nvSpPr>
          <p:cNvPr id="5" name="Oval 4"/>
          <p:cNvSpPr/>
          <p:nvPr/>
        </p:nvSpPr>
        <p:spPr>
          <a:xfrm>
            <a:off x="749808" y="1645920"/>
            <a:ext cx="384048" cy="384048"/>
          </a:xfrm>
          <a:prstGeom prst="ellipse">
            <a:avLst/>
          </a:prstGeom>
          <a:solidFill>
            <a:srgbClr val="1F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9808" y="1709928"/>
            <a:ext cx="38404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Tahom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627632"/>
            <a:ext cx="3291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3642"/>
                </a:solidFill>
                <a:latin typeface="Tahoma"/>
              </a:rPr>
              <a:t>ประกาศ matrix การรับชม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627632"/>
            <a:ext cx="6217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64748B"/>
                </a:solidFill>
                <a:latin typeface="Tahoma"/>
              </a:rPr>
              <a:t>ฟรี/เสียเงิน/ต้องเป็นลูกค้า/ต้องใช้ซิม ใส่เป็นตารางเดียวก่อนคอน</a:t>
            </a:r>
          </a:p>
        </p:txBody>
      </p:sp>
      <p:sp>
        <p:nvSpPr>
          <p:cNvPr id="9" name="Oval 8"/>
          <p:cNvSpPr/>
          <p:nvPr/>
        </p:nvSpPr>
        <p:spPr>
          <a:xfrm>
            <a:off x="749808" y="2633472"/>
            <a:ext cx="384048" cy="384048"/>
          </a:xfrm>
          <a:prstGeom prst="ellipse">
            <a:avLst/>
          </a:prstGeom>
          <a:solidFill>
            <a:srgbClr val="1F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2697479"/>
            <a:ext cx="38404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Tahom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2615184"/>
            <a:ext cx="3291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3642"/>
                </a:solidFill>
                <a:latin typeface="Tahoma"/>
              </a:rPr>
              <a:t>ทำ fallback path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615184"/>
            <a:ext cx="6217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64748B"/>
                </a:solidFill>
                <a:latin typeface="Tahoma"/>
              </a:rPr>
              <a:t>ถ้าเข้า app/ช่องหลักไม่ได้ ต้องมี link หรือ step สำรองที่ชัด</a:t>
            </a:r>
          </a:p>
        </p:txBody>
      </p:sp>
      <p:sp>
        <p:nvSpPr>
          <p:cNvPr id="13" name="Oval 12"/>
          <p:cNvSpPr/>
          <p:nvPr/>
        </p:nvSpPr>
        <p:spPr>
          <a:xfrm>
            <a:off x="749808" y="3621024"/>
            <a:ext cx="384048" cy="384048"/>
          </a:xfrm>
          <a:prstGeom prst="ellipse">
            <a:avLst/>
          </a:prstGeom>
          <a:solidFill>
            <a:srgbClr val="1F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3685032"/>
            <a:ext cx="38404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Tahom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3602736"/>
            <a:ext cx="3291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3642"/>
                </a:solidFill>
                <a:latin typeface="Tahoma"/>
              </a:rPr>
              <a:t>สื่อสารก่อนคอนเสิร์ต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602736"/>
            <a:ext cx="6217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64748B"/>
                </a:solidFill>
                <a:latin typeface="Tahoma"/>
              </a:rPr>
              <a:t>โพสต์ reminder พร้อมตัวอย่างหน้าจอ และ pin วิธีดูในทุก platform</a:t>
            </a:r>
          </a:p>
        </p:txBody>
      </p:sp>
      <p:sp>
        <p:nvSpPr>
          <p:cNvPr id="17" name="Oval 16"/>
          <p:cNvSpPr/>
          <p:nvPr/>
        </p:nvSpPr>
        <p:spPr>
          <a:xfrm>
            <a:off x="749808" y="4608576"/>
            <a:ext cx="384048" cy="384048"/>
          </a:xfrm>
          <a:prstGeom prst="ellipse">
            <a:avLst/>
          </a:prstGeom>
          <a:solidFill>
            <a:srgbClr val="1F7A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49808" y="4672584"/>
            <a:ext cx="384048" cy="16459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900" b="1">
                <a:solidFill>
                  <a:srgbClr val="FFFFFF"/>
                </a:solidFill>
                <a:latin typeface="Tahom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4590288"/>
            <a:ext cx="3291840" cy="2560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143642"/>
                </a:solidFill>
                <a:latin typeface="Tahoma"/>
              </a:rPr>
              <a:t>จับ complaint realtime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4590288"/>
            <a:ext cx="6217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50" b="0">
                <a:solidFill>
                  <a:srgbClr val="64748B"/>
                </a:solidFill>
                <a:latin typeface="Tahoma"/>
              </a:rPr>
              <a:t>ระหว่างคอนให้มีทีมตอบปัญหา ‘ดูไม่ได้/กดไม่ได้/สมัครแล้วไม่ได้’ ทันที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97880"/>
            <a:ext cx="10241280" cy="310896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500" b="1">
                <a:solidFill>
                  <a:srgbClr val="C2412D"/>
                </a:solidFill>
                <a:latin typeface="Tahoma"/>
              </a:rPr>
              <a:t>Bottom line: ปัญหานี้แก้ได้เร็วถ้าทำให้เส้นทางการดู ‘เข้าใจง่ายที่สุด’ ก่อนเกิดคอนเสิร์ตครั้งถัดไป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92240"/>
            <a:ext cx="6583680" cy="182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750" b="0">
                <a:solidFill>
                  <a:srgbClr val="64748B"/>
                </a:solidFill>
                <a:latin typeface="Tahoma"/>
              </a:rPr>
              <a:t>Negative Feedback: ไม่มีซิม True ดู AF ไม่ได้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73952"/>
            <a:ext cx="5029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800" b="1">
                <a:solidFill>
                  <a:srgbClr val="64748B"/>
                </a:solidFill>
                <a:latin typeface="Tahoma"/>
              </a:rPr>
              <a:t>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